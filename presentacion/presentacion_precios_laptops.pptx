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B2430"/>
                </a:solidFill>
                <a:latin typeface="Calibri"/>
              </a:rPr>
              <a:t>Cantidad de laptops por rango de precio (€)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</c:v>
                </c:pt>
              </c:strCache>
            </c:strRef>
          </c:tx>
          <c:spPr>
            <a:solidFill>
              <a:srgbClr val="00A99D"/>
            </a:solidFill>
          </c:spPr>
          <c:invertIfNegative val="0"/>
          <c:dPt>
            <c:idx val="1"/>
            <c:spPr>
              <a:solidFill>
                <a:srgbClr val="F2A93B"/>
              </a:solidFill>
            </c:spPr>
          </c:dPt>
          <c:cat>
            <c:strRef>
              <c:f>Sheet1!$A$2:$A$8</c:f>
              <c:strCache>
                <c:ptCount val="7"/>
                <c:pt idx="0">
                  <c:v>&lt;500</c:v>
                </c:pt>
                <c:pt idx="1">
                  <c:v>500–1.000</c:v>
                </c:pt>
                <c:pt idx="2">
                  <c:v>1.000–1.500</c:v>
                </c:pt>
                <c:pt idx="3">
                  <c:v>1.500–2.000</c:v>
                </c:pt>
                <c:pt idx="4">
                  <c:v>2.000–2.500</c:v>
                </c:pt>
                <c:pt idx="5">
                  <c:v>2.500–3.000</c:v>
                </c:pt>
                <c:pt idx="6">
                  <c:v>&gt;3.000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233</c:v>
                </c:pt>
                <c:pt idx="1">
                  <c:v>423</c:v>
                </c:pt>
                <c:pt idx="2">
                  <c:v>314</c:v>
                </c:pt>
                <c:pt idx="3">
                  <c:v>168</c:v>
                </c:pt>
                <c:pt idx="4">
                  <c:v>82</c:v>
                </c:pt>
                <c:pt idx="5">
                  <c:v>36</c:v>
                </c:pt>
                <c:pt idx="6">
                  <c:v>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200" b="1">
                  <a:solidFill>
                    <a:srgbClr val="1B243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1D9"/>
            </a:solidFill>
          </a:ln>
        </c:spPr>
        <c:txPr>
          <a:bodyPr/>
          <a:lstStyle/>
          <a:p>
            <a:pPr>
              <a:defRPr sz="1200">
                <a:solidFill>
                  <a:srgbClr val="1B243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5B667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B2430"/>
                </a:solidFill>
                <a:latin typeface="Calibri"/>
              </a:rPr>
              <a:t>Correlación con el precio (de −1 a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</c:v>
                </c:pt>
              </c:strCache>
            </c:strRef>
          </c:tx>
          <c:spPr>
            <a:solidFill>
              <a:srgbClr val="00A99D"/>
            </a:solidFill>
          </c:spPr>
          <c:invertIfNegative val="0"/>
          <c:dPt>
            <c:idx val="0"/>
            <c:spPr>
              <a:solidFill>
                <a:srgbClr val="F2A93B"/>
              </a:solidFill>
            </c:spPr>
          </c:dPt>
          <c:dPt>
            <c:idx val="1"/>
            <c:spPr>
              <a:solidFill>
                <a:srgbClr val="F2A93B"/>
              </a:solidFill>
            </c:spPr>
          </c:dPt>
          <c:cat>
            <c:strRef>
              <c:f>Sheet1!$A$2:$A$9</c:f>
              <c:strCache>
                <c:ptCount val="8"/>
                <c:pt idx="0">
                  <c:v>RAM</c:v>
                </c:pt>
                <c:pt idx="1">
                  <c:v>SSD</c:v>
                </c:pt>
                <c:pt idx="2">
                  <c:v>Nitidez (PPI)</c:v>
                </c:pt>
                <c:pt idx="3">
                  <c:v>Panel IPS</c:v>
                </c:pt>
                <c:pt idx="4">
                  <c:v>Peso</c:v>
                </c:pt>
                <c:pt idx="5">
                  <c:v>Táctil</c:v>
                </c:pt>
                <c:pt idx="6">
                  <c:v>Pulgadas</c:v>
                </c:pt>
                <c:pt idx="7">
                  <c:v>Disco duro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0.74</c:v>
                </c:pt>
                <c:pt idx="1">
                  <c:v>0.67</c:v>
                </c:pt>
                <c:pt idx="2">
                  <c:v>0.47</c:v>
                </c:pt>
                <c:pt idx="3">
                  <c:v>0.25</c:v>
                </c:pt>
                <c:pt idx="4">
                  <c:v>0.21</c:v>
                </c:pt>
                <c:pt idx="5">
                  <c:v>0.19</c:v>
                </c:pt>
                <c:pt idx="6">
                  <c:v>0.07</c:v>
                </c:pt>
                <c:pt idx="7">
                  <c:v>-0.09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200" b="1">
                  <a:solidFill>
                    <a:srgbClr val="1B243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low"/>
        <c:spPr>
          <a:ln>
            <a:solidFill>
              <a:srgbClr val="C9D1D9"/>
            </a:solidFill>
          </a:ln>
        </c:spPr>
        <c:txPr>
          <a:bodyPr/>
          <a:lstStyle/>
          <a:p>
            <a:pPr>
              <a:defRPr sz="1200">
                <a:solidFill>
                  <a:srgbClr val="1B243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-0.25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5B667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B2430"/>
                </a:solidFill>
                <a:latin typeface="Calibri"/>
              </a:rPr>
              <a:t>Precio mediano según la RAM (€)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</c:v>
                </c:pt>
              </c:strCache>
            </c:strRef>
          </c:tx>
          <c:spPr>
            <a:solidFill>
              <a:srgbClr val="00A99D"/>
            </a:solidFill>
          </c:spPr>
          <c:invertIfNegative val="0"/>
          <c:dPt>
            <c:idx val="3"/>
            <c:spPr>
              <a:solidFill>
                <a:srgbClr val="F2A93B"/>
              </a:solidFill>
            </c:spPr>
          </c:dPt>
          <c:cat>
            <c:strRef>
              <c:f>Sheet1!$A$2:$A$5</c:f>
              <c:strCache>
                <c:ptCount val="4"/>
                <c:pt idx="0">
                  <c:v>4 GB</c:v>
                </c:pt>
                <c:pt idx="1">
                  <c:v>8 GB</c:v>
                </c:pt>
                <c:pt idx="2">
                  <c:v>16 GB</c:v>
                </c:pt>
                <c:pt idx="3">
                  <c:v>32 GB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498</c:v>
                </c:pt>
                <c:pt idx="1">
                  <c:v>1099</c:v>
                </c:pt>
                <c:pt idx="2">
                  <c:v>1895</c:v>
                </c:pt>
                <c:pt idx="3">
                  <c:v>3147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200" b="1">
                  <a:solidFill>
                    <a:srgbClr val="1B243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1D9"/>
            </a:solidFill>
          </a:ln>
        </c:spPr>
        <c:txPr>
          <a:bodyPr/>
          <a:lstStyle/>
          <a:p>
            <a:pPr>
              <a:defRPr sz="1200">
                <a:solidFill>
                  <a:srgbClr val="1B243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5B667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B2430"/>
                </a:solidFill>
                <a:latin typeface="Calibri"/>
              </a:rPr>
              <a:t>Precio mediano según el procesador (€)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</c:v>
                </c:pt>
              </c:strCache>
            </c:strRef>
          </c:tx>
          <c:spPr>
            <a:solidFill>
              <a:srgbClr val="00A99D"/>
            </a:solidFill>
          </c:spPr>
          <c:invertIfNegative val="0"/>
          <c:dPt>
            <c:idx val="4"/>
            <c:spPr>
              <a:solidFill>
                <a:srgbClr val="F2A93B"/>
              </a:solidFill>
            </c:spPr>
          </c:dPt>
          <c:cat>
            <c:strRef>
              <c:f>Sheet1!$A$2:$A$6</c:f>
              <c:strCache>
                <c:ptCount val="5"/>
                <c:pt idx="0">
                  <c:v>Intel otro</c:v>
                </c:pt>
                <c:pt idx="1">
                  <c:v>AMD</c:v>
                </c:pt>
                <c:pt idx="2">
                  <c:v>Intel i3</c:v>
                </c:pt>
                <c:pt idx="3">
                  <c:v>Intel i5</c:v>
                </c:pt>
                <c:pt idx="4">
                  <c:v>Intel i7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349</c:v>
                </c:pt>
                <c:pt idx="1">
                  <c:v>469</c:v>
                </c:pt>
                <c:pt idx="2">
                  <c:v>499</c:v>
                </c:pt>
                <c:pt idx="3">
                  <c:v>955</c:v>
                </c:pt>
                <c:pt idx="4">
                  <c:v>1483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200" b="1">
                  <a:solidFill>
                    <a:srgbClr val="1B243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1D9"/>
            </a:solidFill>
          </a:ln>
        </c:spPr>
        <c:txPr>
          <a:bodyPr/>
          <a:lstStyle/>
          <a:p>
            <a:pPr>
              <a:defRPr sz="1200">
                <a:solidFill>
                  <a:srgbClr val="1B243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5B667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[JUAN · 0:00–0:12]</a:t>
            </a:r>
          </a:p>
          <a:p>
            <a:r>
              <a:t>Hola, somos Juan, Martin y Jenncy, de Ingeniería de Sistemas. Hoy les contamos cómo usamos ciencia de datos para responder una pregunta concreta: ¿cuánto debería costar una laptop según lo que trae por dentro?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[JUAN · 0:12–0:35]</a:t>
            </a:r>
          </a:p>
          <a:p>
            <a:r>
              <a:t>Imaginen que trabajan en TI y deben comprar 50 laptops. Llega una cotización: ¿cómo saben si el precio es justo? Eso nos va a pasar en nuestra carrera. Por eso tomamos 1.303 laptops reales de Kaggle y nos preguntamos: ¿qué explica el precio, y podemos estimarlo?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[JUAN · 0:35–0:55]</a:t>
            </a:r>
          </a:p>
          <a:p>
            <a:r>
              <a:t>Seguimos seis pasos, que son las tres etapas del curso: explorar y limpiar, describir y comparar con estadística, y visualizar y predecir. Todo en Python, en Google Colab, y publicado en GitHub. Martin les cuenta cómo venían los datos.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[MARTIN · 0:55–1:15]</a:t>
            </a:r>
          </a:p>
          <a:p>
            <a:r>
              <a:t>Gracias, Juan. No había datos vacíos, pero sí mucho desorden: la RAM y el peso venían como texto, el almacenamiento mezclaba dos discos en una celda, la pantalla escondía información, y había 28 laptops repetidas con distinto 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[MARTIN · 1:15–1:37]</a:t>
            </a:r>
          </a:p>
          <a:p>
            <a:r>
              <a:t>Con pandas convertimos ese texto en números: '8GB' pasó a ser 8, separamos los gigas de SSD y de disco duro, y de la pantalla sacamos si es IPS y su nitidez en píxeles por pulgada. Quedaron 1.275 laptops y pasamos de 2 a 9 variables numéricas.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[MARTIN · 1:37–2:00]</a:t>
            </a:r>
          </a:p>
          <a:p>
            <a:r>
              <a:t>La mayoría cuesta entre 500 y 1.000 euros. La media es 1.135 €, pero la mediana es 989: unas pocas laptops muy caras inflan el promedio, así que la mediana representa mejor el precio típico. Y hay mucha dispersión: 701 € de desviación estándar.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[MARTIN · 2:00–2:25]</a:t>
            </a:r>
          </a:p>
          <a:p>
            <a:r>
              <a:t>Luego medimos qué se mueve junto con el precio: la RAM tiene una correlación de 0,74 y el SSD de 0,67; la pantalla y el disco duro casi no influyen. Encontramos 28 laptops atípicas, pero eran gaming y workstation reales, así que las conservamos. Jenncy sigue.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[JENNCY · 2:25–2:47]</a:t>
            </a:r>
          </a:p>
          <a:p>
            <a:r>
              <a:t>Gracias, Martin. Los gráficos confirman la hipótesis: con 4 GB de RAM la laptop típica cuesta unos 500 €; con 16 GB, casi 1.900. Un i7 cuesta casi el triple que un i3, y tener SSD duplica el precio.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[JENNCY · 2:47–3:15]</a:t>
            </a:r>
          </a:p>
          <a:p>
            <a:r>
              <a:t>Con scikit-learn entrenamos una regresión lineal, que funciona como una receta: suma un valor por cada GB de RAM, de SSD, por el peso y por la nitidez. Aprendió con el 80 % de las laptops y la probamos con el 20 % que nunca vio: explica el 70 % del precio, con un error promedio de 298 €. Ojo: el peso no encarece por sí solo, indica gama alta.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[JENNCY · 3:15–3:35]</a:t>
            </a:r>
          </a:p>
          <a:p>
            <a:r>
              <a:t>Por ejemplo, una laptop con 16 GB de RAM, 512 de SSD y pantalla Full HD costaría unos 1.872 €. Pero seamos honestos: subestima las más caras, no conoce la marca ni la tarjeta gráfica, y los precios son de 2017 y en euros.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[JUAN · 3:35–3:55]</a:t>
            </a:r>
          </a:p>
          <a:p>
            <a:r>
              <a:t>¿Y para qué nos sirve como ingenieros? Para validar cotizaciones y negociar cuando nos cobran de más, para invertir el presupuesto donde más rinde, en RAM y SSD, y para definir perfiles de equipo con un costo estimado.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[TODOS · 3:55–4:15]</a:t>
            </a:r>
          </a:p>
          <a:p>
            <a:r>
              <a:t>JUAN: Nos llevamos cuatro aprendizajes. Limpiar es la mitad del trabajo.</a:t>
            </a:r>
          </a:p>
          <a:p>
            <a:r>
              <a:t>MARTIN: Con valores extremos, la mediana dice más que el promedio.</a:t>
            </a:r>
          </a:p>
          <a:p>
            <a:r>
              <a:t>JENNCY: RAM, SSD y procesador definen el precio, y un modelo simple ya ayuda a decidir.</a:t>
            </a:r>
          </a:p>
          <a:p>
            <a:r>
              <a:t>TODOS: ¡Gracias! Todo el proyecto está en nuestro GitHub.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18872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0A99D"/>
                </a:solidFill>
                <a:latin typeface="Calibri"/>
              </a:rPr>
              <a:t>PROYECTO FINAL · CIENCIA DE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69494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800" b="1" i="0">
                <a:solidFill>
                  <a:srgbClr val="FFFFFF"/>
                </a:solidFill>
                <a:latin typeface="Calibri"/>
              </a:rPr>
              <a:t>¿Cuánto debería costar una laptop?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11880"/>
            <a:ext cx="6675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C9D1D9"/>
                </a:solidFill>
                <a:latin typeface="Calibri"/>
              </a:rPr>
              <a:t>Análisis y predicción de precios a partir de sus especificaciones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892040"/>
            <a:ext cx="6675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Juan Bello  ·  Martin  ·  Jenncy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6675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C9D1D9"/>
                </a:solidFill>
                <a:latin typeface="Calibri"/>
              </a:rPr>
              <a:t>Ingeniería de Sistemas</a:t>
            </a:r>
          </a:p>
        </p:txBody>
      </p:sp>
      <p:sp>
        <p:nvSpPr>
          <p:cNvPr id="7" name="Oval 6"/>
          <p:cNvSpPr/>
          <p:nvPr/>
        </p:nvSpPr>
        <p:spPr>
          <a:xfrm>
            <a:off x="8138160" y="1417320"/>
            <a:ext cx="3291840" cy="3291840"/>
          </a:xfrm>
          <a:prstGeom prst="ellipse">
            <a:avLst/>
          </a:prstGeom>
          <a:solidFill>
            <a:srgbClr val="263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2331720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000" b="1" i="0">
                <a:solidFill>
                  <a:srgbClr val="00A99D"/>
                </a:solidFill>
                <a:latin typeface="Calibri"/>
              </a:rPr>
              <a:t>1.275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3200400"/>
            <a:ext cx="3291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Calibri"/>
              </a:rPr>
              <a:t>laptops analizadas</a:t>
            </a:r>
          </a:p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Calibri"/>
              </a:rPr>
              <a:t>con Python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0A99D"/>
                </a:solidFill>
                <a:latin typeface="Calibri"/>
              </a:rPr>
              <a:t>INTRODUCCIÓN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1B2430"/>
                </a:solidFill>
                <a:latin typeface="Calibri"/>
              </a:rPr>
              <a:t>Todo empezó con una pregunta de trabajo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5120640" cy="4206240"/>
          </a:xfrm>
          <a:prstGeom prst="roundRect">
            <a:avLst>
              <a:gd name="adj" fmla="val 6000"/>
            </a:avLst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4389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200" b="1" i="0">
                <a:solidFill>
                  <a:srgbClr val="00A99D"/>
                </a:solidFill>
                <a:latin typeface="Calibri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43891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Si tu empresa necesita comprar 50 laptops, ¿cómo sabes si el precio que te ofrecen es justo?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66360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C9D1D9"/>
                </a:solidFill>
                <a:latin typeface="Calibri"/>
              </a:rPr>
              <a:t>Una situación real para un ingeniero de sistemas</a:t>
            </a:r>
          </a:p>
        </p:txBody>
      </p:sp>
      <p:sp>
        <p:nvSpPr>
          <p:cNvPr id="8" name="Oval 7"/>
          <p:cNvSpPr/>
          <p:nvPr/>
        </p:nvSpPr>
        <p:spPr>
          <a:xfrm>
            <a:off x="6217920" y="1828800"/>
            <a:ext cx="685800" cy="685800"/>
          </a:xfrm>
          <a:prstGeom prst="ellipse">
            <a:avLst/>
          </a:prstGeom>
          <a:solidFill>
            <a:srgbClr val="00A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8040" y="1810512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B2430"/>
                </a:solidFill>
                <a:latin typeface="Calibri"/>
              </a:rPr>
              <a:t>Nuestra carrera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2240280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B6673"/>
                </a:solidFill>
                <a:latin typeface="Calibri"/>
              </a:rPr>
              <a:t>En TI nos toca asesorar y aprobar compras de equipos.</a:t>
            </a:r>
          </a:p>
        </p:txBody>
      </p:sp>
      <p:sp>
        <p:nvSpPr>
          <p:cNvPr id="11" name="Oval 10"/>
          <p:cNvSpPr/>
          <p:nvPr/>
        </p:nvSpPr>
        <p:spPr>
          <a:xfrm>
            <a:off x="6217920" y="3200400"/>
            <a:ext cx="685800" cy="685800"/>
          </a:xfrm>
          <a:prstGeom prst="ellipse">
            <a:avLst/>
          </a:prstGeom>
          <a:solidFill>
            <a:srgbClr val="00A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3182112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B2430"/>
                </a:solidFill>
                <a:latin typeface="Calibri"/>
              </a:rPr>
              <a:t>Los datos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3611880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B6673"/>
                </a:solidFill>
                <a:latin typeface="Calibri"/>
              </a:rPr>
              <a:t>1.303 laptops reales con sus especificaciones y su precio (Kaggle).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0" y="4572000"/>
            <a:ext cx="685800" cy="685800"/>
          </a:xfrm>
          <a:prstGeom prst="ellipse">
            <a:avLst/>
          </a:prstGeom>
          <a:solidFill>
            <a:srgbClr val="00A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4553712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B2430"/>
                </a:solidFill>
                <a:latin typeface="Calibri"/>
              </a:rPr>
              <a:t>La pregunta guía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4983480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B6673"/>
                </a:solidFill>
                <a:latin typeface="Calibri"/>
              </a:rPr>
              <a:t>¿Qué características explican el precio y podemos estimarlo?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673"/>
                </a:solidFill>
                <a:latin typeface="Calibri"/>
              </a:rPr>
              <a:t>Análisis y predicción de precios de laptops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B6673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0A99D"/>
                </a:solidFill>
                <a:latin typeface="Calibri"/>
              </a:rPr>
              <a:t>METODOLOGÍA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1B2430"/>
                </a:solidFill>
                <a:latin typeface="Calibri"/>
              </a:rPr>
              <a:t>Nuestra ruta: de datos crudos a una decisión</a:t>
            </a:r>
          </a:p>
        </p:txBody>
      </p:sp>
      <p:sp>
        <p:nvSpPr>
          <p:cNvPr id="4" name="Oval 3"/>
          <p:cNvSpPr/>
          <p:nvPr/>
        </p:nvSpPr>
        <p:spPr>
          <a:xfrm>
            <a:off x="960120" y="2011680"/>
            <a:ext cx="914400" cy="914400"/>
          </a:xfrm>
          <a:prstGeom prst="ellipse">
            <a:avLst/>
          </a:prstGeom>
          <a:solidFill>
            <a:srgbClr val="00A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063240"/>
            <a:ext cx="1463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1B2430"/>
                </a:solidFill>
                <a:latin typeface="Calibri"/>
              </a:rPr>
              <a:t>Explorar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011680" y="2331720"/>
            <a:ext cx="384048" cy="274320"/>
          </a:xfrm>
          <a:prstGeom prst="rightArrow">
            <a:avLst/>
          </a:prstGeom>
          <a:solidFill>
            <a:srgbClr val="C9D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88920" y="2011680"/>
            <a:ext cx="914400" cy="914400"/>
          </a:xfrm>
          <a:prstGeom prst="ellipse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3063240"/>
            <a:ext cx="1463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1B2430"/>
                </a:solidFill>
                <a:latin typeface="Calibri"/>
              </a:rPr>
              <a:t>Limpiar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840480" y="2331720"/>
            <a:ext cx="384048" cy="274320"/>
          </a:xfrm>
          <a:prstGeom prst="rightArrow">
            <a:avLst/>
          </a:prstGeom>
          <a:solidFill>
            <a:srgbClr val="C9D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17720" y="2011680"/>
            <a:ext cx="914400" cy="914400"/>
          </a:xfrm>
          <a:prstGeom prst="ellipse">
            <a:avLst/>
          </a:prstGeom>
          <a:solidFill>
            <a:srgbClr val="00A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3063240"/>
            <a:ext cx="1463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1B2430"/>
                </a:solidFill>
                <a:latin typeface="Calibri"/>
              </a:rPr>
              <a:t>Describir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669280" y="2331720"/>
            <a:ext cx="384048" cy="274320"/>
          </a:xfrm>
          <a:prstGeom prst="rightArrow">
            <a:avLst/>
          </a:prstGeom>
          <a:solidFill>
            <a:srgbClr val="C9D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2011680"/>
            <a:ext cx="914400" cy="914400"/>
          </a:xfrm>
          <a:prstGeom prst="ellipse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3063240"/>
            <a:ext cx="1463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1B2430"/>
                </a:solidFill>
                <a:latin typeface="Calibri"/>
              </a:rPr>
              <a:t>Comparar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498079" y="2331720"/>
            <a:ext cx="384048" cy="274320"/>
          </a:xfrm>
          <a:prstGeom prst="rightArrow">
            <a:avLst/>
          </a:prstGeom>
          <a:solidFill>
            <a:srgbClr val="C9D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75320" y="2011680"/>
            <a:ext cx="914400" cy="914400"/>
          </a:xfrm>
          <a:prstGeom prst="ellipse">
            <a:avLst/>
          </a:prstGeom>
          <a:solidFill>
            <a:srgbClr val="00A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3063240"/>
            <a:ext cx="1463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1B2430"/>
                </a:solidFill>
                <a:latin typeface="Calibri"/>
              </a:rPr>
              <a:t>Visualizar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326880" y="2331720"/>
            <a:ext cx="384048" cy="274320"/>
          </a:xfrm>
          <a:prstGeom prst="rightArrow">
            <a:avLst/>
          </a:prstGeom>
          <a:solidFill>
            <a:srgbClr val="C9D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04120" y="2011680"/>
            <a:ext cx="914400" cy="914400"/>
          </a:xfrm>
          <a:prstGeom prst="ellipse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29800" y="3063240"/>
            <a:ext cx="1463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1B2430"/>
                </a:solidFill>
                <a:latin typeface="Calibri"/>
              </a:rPr>
              <a:t>Predecir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657600"/>
            <a:ext cx="3200400" cy="548640"/>
          </a:xfrm>
          <a:prstGeom prst="roundRect">
            <a:avLst>
              <a:gd name="adj" fmla="val 30000"/>
            </a:avLst>
          </a:prstGeom>
          <a:solidFill>
            <a:srgbClr val="D9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657600"/>
            <a:ext cx="3200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B2430"/>
                </a:solidFill>
                <a:latin typeface="Calibri"/>
              </a:rPr>
              <a:t>Etapa 1 · Fundamentos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3657600"/>
            <a:ext cx="3200400" cy="548640"/>
          </a:xfrm>
          <a:prstGeom prst="roundRect">
            <a:avLst>
              <a:gd name="adj" fmla="val 30000"/>
            </a:avLst>
          </a:prstGeom>
          <a:solidFill>
            <a:srgbClr val="D9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0" y="3657600"/>
            <a:ext cx="3200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B2430"/>
                </a:solidFill>
                <a:latin typeface="Calibri"/>
              </a:rPr>
              <a:t>Etapa 2 · Estadística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3657600"/>
            <a:ext cx="3200400" cy="548640"/>
          </a:xfrm>
          <a:prstGeom prst="roundRect">
            <a:avLst>
              <a:gd name="adj" fmla="val 30000"/>
            </a:avLst>
          </a:prstGeom>
          <a:solidFill>
            <a:srgbClr val="D9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0" y="3657600"/>
            <a:ext cx="3200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B2430"/>
                </a:solidFill>
                <a:latin typeface="Calibri"/>
              </a:rPr>
              <a:t>Etapa 3 · Modelo e historia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754880"/>
            <a:ext cx="11091672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1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48920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0A99D"/>
                </a:solidFill>
                <a:latin typeface="Calibri"/>
              </a:rPr>
              <a:t>HERRAMIENTAS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25780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B2430"/>
                </a:solidFill>
                <a:latin typeface="Calibri"/>
              </a:rPr>
              <a:t>Python</a:t>
            </a:r>
            <a:r>
              <a:rPr sz="1800" b="0" i="0">
                <a:solidFill>
                  <a:srgbClr val="1B2430"/>
                </a:solidFill>
                <a:latin typeface="Calibri"/>
              </a:rPr>
              <a:t>  ·  pandas  ·  numpy  ·  matplotlib  ·  seaborn  ·  scikit-learn  ·  </a:t>
            </a:r>
            <a:r>
              <a:rPr sz="1800" b="1" i="0">
                <a:solidFill>
                  <a:srgbClr val="1B2430"/>
                </a:solidFill>
                <a:latin typeface="Calibri"/>
              </a:rPr>
              <a:t>Google Colab</a:t>
            </a:r>
            <a:r>
              <a:rPr sz="1800" b="0" i="0">
                <a:solidFill>
                  <a:srgbClr val="1B2430"/>
                </a:solidFill>
                <a:latin typeface="Calibri"/>
              </a:rPr>
              <a:t>  ·  </a:t>
            </a:r>
            <a:r>
              <a:rPr sz="1800" b="1" i="0">
                <a:solidFill>
                  <a:srgbClr val="1B2430"/>
                </a:solidFill>
                <a:latin typeface="Calibri"/>
              </a:rPr>
              <a:t>GitHub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673"/>
                </a:solidFill>
                <a:latin typeface="Calibri"/>
              </a:rPr>
              <a:t>Análisis y predicción de precios de laptops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B6673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0A99D"/>
                </a:solidFill>
                <a:latin typeface="Calibri"/>
              </a:rPr>
              <a:t>ETAPA 1 · FUNDAMENTOS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1B2430"/>
                </a:solidFill>
                <a:latin typeface="Calibri"/>
              </a:rPr>
              <a:t>Los datos venían desordenados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3291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00A99D"/>
                </a:solidFill>
                <a:latin typeface="Calibri"/>
              </a:rPr>
              <a:t>1.303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B6673"/>
                </a:solidFill>
                <a:latin typeface="Calibri"/>
              </a:rPr>
              <a:t>laptops en el archivo original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54680"/>
            <a:ext cx="3291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00A99D"/>
                </a:solidFill>
                <a:latin typeface="Calibr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B6673"/>
                </a:solidFill>
                <a:latin typeface="Calibri"/>
              </a:rPr>
              <a:t>columnas: marca, CPU, RAM, precio…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526280"/>
            <a:ext cx="3291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F2A93B"/>
                </a:solidFill>
                <a:latin typeface="Calibri"/>
              </a:rPr>
              <a:t>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21208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B6673"/>
                </a:solidFill>
                <a:latin typeface="Calibri"/>
              </a:rPr>
              <a:t>laptops repetidas con distinto 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783080"/>
            <a:ext cx="743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1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96596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0A99D"/>
                </a:solidFill>
                <a:latin typeface="Calibri"/>
              </a:rPr>
              <a:t>ASÍ VENÍAN ALGUNOS DATOS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468880"/>
            <a:ext cx="3566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B2430"/>
                </a:solidFill>
                <a:latin typeface="Courier New"/>
              </a:rPr>
              <a:t>"8GB"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468880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5B6673"/>
                </a:solidFill>
                <a:latin typeface="Calibri"/>
              </a:rPr>
              <a:t>La RAM era texto, no número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154680"/>
            <a:ext cx="3566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B2430"/>
                </a:solidFill>
                <a:latin typeface="Courier New"/>
              </a:rPr>
              <a:t>"1.37kg"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3154680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5B6673"/>
                </a:solidFill>
                <a:latin typeface="Calibri"/>
              </a:rPr>
              <a:t>El peso también era texto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3840480"/>
            <a:ext cx="3566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B2430"/>
                </a:solidFill>
                <a:latin typeface="Courier New"/>
              </a:rPr>
              <a:t>"128GB SSD + 1TB HDD"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3840480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5B6673"/>
                </a:solidFill>
                <a:latin typeface="Calibri"/>
              </a:rPr>
              <a:t>Dos discos en una sola celda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4526280"/>
            <a:ext cx="3566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B2430"/>
                </a:solidFill>
                <a:latin typeface="Courier New"/>
              </a:rPr>
              <a:t>"IPS Panel 1920x1080"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4526280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5B6673"/>
                </a:solidFill>
                <a:latin typeface="Calibri"/>
              </a:rPr>
              <a:t>Datos de pantalla escondidos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5212080"/>
            <a:ext cx="3566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B2430"/>
                </a:solidFill>
                <a:latin typeface="Courier New"/>
              </a:rPr>
              <a:t>"macOS" / "Mac OS X"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5212080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5B6673"/>
                </a:solidFill>
                <a:latin typeface="Calibri"/>
              </a:rPr>
              <a:t>El mismo sistema, escrito distinto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673"/>
                </a:solidFill>
                <a:latin typeface="Calibri"/>
              </a:rPr>
              <a:t>Análisis y predicción de precios de laptops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B6673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0A99D"/>
                </a:solidFill>
                <a:latin typeface="Calibri"/>
              </a:rPr>
              <a:t>ETAPA 1 · FUNDAMENTOS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1B2430"/>
                </a:solidFill>
                <a:latin typeface="Calibri"/>
              </a:rPr>
              <a:t>Limpieza: de texto a números útiles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B6673"/>
                </a:solidFill>
                <a:latin typeface="Calibri"/>
              </a:rPr>
              <a:t>ANTES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77840" y="1691640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0A99D"/>
                </a:solidFill>
                <a:latin typeface="Calibri"/>
              </a:rPr>
              <a:t>DESPUÉS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4343400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1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40690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B2430"/>
                </a:solidFill>
                <a:latin typeface="Courier New"/>
              </a:rPr>
              <a:t>"8GB"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029200" y="2267712"/>
            <a:ext cx="411480" cy="274320"/>
          </a:xfrm>
          <a:prstGeom prst="rightArrow">
            <a:avLst/>
          </a:prstGeom>
          <a:solidFill>
            <a:srgbClr val="00A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77840" y="2103120"/>
            <a:ext cx="6062472" cy="594360"/>
          </a:xfrm>
          <a:prstGeom prst="roundRect">
            <a:avLst>
              <a:gd name="adj" fmla="val 6000"/>
            </a:avLst>
          </a:prstGeom>
          <a:solidFill>
            <a:srgbClr val="D9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0" y="2103120"/>
            <a:ext cx="576072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B2430"/>
                </a:solidFill>
                <a:latin typeface="Courier New"/>
              </a:rPr>
              <a:t>RAM_GB = 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80360"/>
            <a:ext cx="4343400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1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880360"/>
            <a:ext cx="40690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B2430"/>
                </a:solidFill>
                <a:latin typeface="Courier New"/>
              </a:rPr>
              <a:t>"1.37kg"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029200" y="3044952"/>
            <a:ext cx="411480" cy="274320"/>
          </a:xfrm>
          <a:prstGeom prst="rightArrow">
            <a:avLst/>
          </a:prstGeom>
          <a:solidFill>
            <a:srgbClr val="00A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577840" y="2880360"/>
            <a:ext cx="6062472" cy="594360"/>
          </a:xfrm>
          <a:prstGeom prst="roundRect">
            <a:avLst>
              <a:gd name="adj" fmla="val 6000"/>
            </a:avLst>
          </a:prstGeom>
          <a:solidFill>
            <a:srgbClr val="D9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0" y="2880360"/>
            <a:ext cx="576072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B2430"/>
                </a:solidFill>
                <a:latin typeface="Courier New"/>
              </a:rPr>
              <a:t>Peso_kg = 1.37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657600"/>
            <a:ext cx="4343400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1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657600"/>
            <a:ext cx="40690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B2430"/>
                </a:solidFill>
                <a:latin typeface="Courier New"/>
              </a:rPr>
              <a:t>"128GB SSD + 1TB HDD"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029200" y="3822191"/>
            <a:ext cx="411480" cy="274320"/>
          </a:xfrm>
          <a:prstGeom prst="rightArrow">
            <a:avLst/>
          </a:prstGeom>
          <a:solidFill>
            <a:srgbClr val="00A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577840" y="3657600"/>
            <a:ext cx="6062472" cy="594360"/>
          </a:xfrm>
          <a:prstGeom prst="roundRect">
            <a:avLst>
              <a:gd name="adj" fmla="val 6000"/>
            </a:avLst>
          </a:prstGeom>
          <a:solidFill>
            <a:srgbClr val="D9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0" y="3657600"/>
            <a:ext cx="576072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B2430"/>
                </a:solidFill>
                <a:latin typeface="Courier New"/>
              </a:rPr>
              <a:t>SSD_GB = 128   ·   HDD_GB = 1000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434840"/>
            <a:ext cx="4343400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1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434840"/>
            <a:ext cx="40690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B2430"/>
                </a:solidFill>
                <a:latin typeface="Courier New"/>
              </a:rPr>
              <a:t>"IPS Panel 1920x1080" (15,6")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5029200" y="4599431"/>
            <a:ext cx="411480" cy="274320"/>
          </a:xfrm>
          <a:prstGeom prst="rightArrow">
            <a:avLst/>
          </a:prstGeom>
          <a:solidFill>
            <a:srgbClr val="00A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577840" y="4434840"/>
            <a:ext cx="6062472" cy="594360"/>
          </a:xfrm>
          <a:prstGeom prst="roundRect">
            <a:avLst>
              <a:gd name="adj" fmla="val 6000"/>
            </a:avLst>
          </a:prstGeom>
          <a:solidFill>
            <a:srgbClr val="D9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0" y="4434840"/>
            <a:ext cx="576072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B2430"/>
                </a:solidFill>
                <a:latin typeface="Courier New"/>
              </a:rPr>
              <a:t>IPS = 1   ·   PPI = 141 (nitidez)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349240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2A93B"/>
                </a:solidFill>
                <a:latin typeface="Calibri"/>
              </a:rPr>
              <a:t>1.303 → 1.275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8978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B6673"/>
                </a:solidFill>
                <a:latin typeface="Calibri"/>
              </a:rPr>
              <a:t>filas (sin duplicados)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5349240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0A99D"/>
                </a:solidFill>
                <a:latin typeface="Calibri"/>
              </a:rPr>
              <a:t>2 → 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58978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B6673"/>
                </a:solidFill>
                <a:latin typeface="Calibri"/>
              </a:rPr>
              <a:t>variables numéricas útiles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5349240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0A99D"/>
                </a:solidFill>
                <a:latin typeface="Calibri"/>
              </a:rP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58978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B6673"/>
                </a:solidFill>
                <a:latin typeface="Calibri"/>
              </a:rPr>
              <a:t>nulos y duplicados al final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673"/>
                </a:solidFill>
                <a:latin typeface="Calibri"/>
              </a:rPr>
              <a:t>Análisis y predicción de precios de laptops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B6673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0A99D"/>
                </a:solidFill>
                <a:latin typeface="Calibri"/>
              </a:rPr>
              <a:t>ETAPA 2 · ESTADÍSTICA DESCRIPTIVA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1B2430"/>
                </a:solidFill>
                <a:latin typeface="Calibri"/>
              </a:rPr>
              <a:t>¿Cuánto cuesta una laptop típica?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676656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1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828800"/>
          <a:ext cx="640080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0" y="1737360"/>
            <a:ext cx="2011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F2A93B"/>
                </a:solidFill>
                <a:latin typeface="Calibri"/>
              </a:rPr>
              <a:t>989 €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42316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B6673"/>
                </a:solidFill>
                <a:latin typeface="Calibri"/>
              </a:rPr>
              <a:t>Mediana: precio típico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0" y="1737360"/>
            <a:ext cx="1920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00A99D"/>
                </a:solidFill>
                <a:latin typeface="Calibri"/>
              </a:rPr>
              <a:t>1.135 €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0" y="242316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B6673"/>
                </a:solidFill>
                <a:latin typeface="Calibri"/>
              </a:rPr>
              <a:t>Media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3063240"/>
            <a:ext cx="2011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00A99D"/>
                </a:solidFill>
                <a:latin typeface="Calibri"/>
              </a:rPr>
              <a:t>701 €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74903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B6673"/>
                </a:solidFill>
                <a:latin typeface="Calibri"/>
              </a:rPr>
              <a:t>Desviación estándar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0" y="3063240"/>
            <a:ext cx="1920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00A99D"/>
                </a:solidFill>
                <a:latin typeface="Calibri"/>
              </a:rPr>
              <a:t>5.925 €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0" y="3749039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B6673"/>
                </a:solidFill>
                <a:latin typeface="Calibri"/>
              </a:rPr>
              <a:t>Rango (174–6.099)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4526280"/>
            <a:ext cx="3867912" cy="1554480"/>
          </a:xfrm>
          <a:prstGeom prst="roundRect">
            <a:avLst>
              <a:gd name="adj" fmla="val 6000"/>
            </a:avLst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01000" y="4663440"/>
            <a:ext cx="347472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2A93B"/>
                </a:solidFill>
                <a:latin typeface="Calibri"/>
              </a:rPr>
              <a:t>La media es mayor que la mediana: 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unas pocas laptops muy caras suben el promedio. Por eso usamos la mediana.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673"/>
                </a:solidFill>
                <a:latin typeface="Calibri"/>
              </a:rPr>
              <a:t>Análisis y predicción de precios de laptops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B6673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0A99D"/>
                </a:solidFill>
                <a:latin typeface="Calibri"/>
              </a:rPr>
              <a:t>ETAPA 2 · ESTADÍSTICA DESCRIPTIVA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1B2430"/>
                </a:solidFill>
                <a:latin typeface="Calibri"/>
              </a:rPr>
              <a:t>¿Qué se relaciona con el precio?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630936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1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828800"/>
          <a:ext cx="594360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223760" y="1737360"/>
            <a:ext cx="4416552" cy="2011680"/>
          </a:xfrm>
          <a:prstGeom prst="roundRect">
            <a:avLst>
              <a:gd name="adj" fmla="val 6000"/>
            </a:avLst>
          </a:prstGeom>
          <a:solidFill>
            <a:srgbClr val="D9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79" y="192024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0A99D"/>
                </a:solidFill>
                <a:latin typeface="Calibri"/>
              </a:rPr>
              <a:t>NUESTRA HIPÓTESIS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2286000"/>
            <a:ext cx="39319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B2430"/>
                </a:solidFill>
                <a:latin typeface="Calibri"/>
              </a:rPr>
              <a:t>La RAM y el SSD son lo que más encarece una laptop. El tamaño de pantalla y el disco duro casi no influyen.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4069080"/>
            <a:ext cx="4416552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1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425196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A93B"/>
                </a:solidFill>
                <a:latin typeface="Calibri"/>
              </a:rPr>
              <a:t>OUTLIERS (MÉTODO IQR)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4617720"/>
            <a:ext cx="39319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B2430"/>
                </a:solidFill>
                <a:latin typeface="Calibri"/>
              </a:rPr>
              <a:t>28 laptops (2,2 %) </a:t>
            </a:r>
            <a:r>
              <a:rPr sz="1600" b="0" i="0">
                <a:solidFill>
                  <a:srgbClr val="1B2430"/>
                </a:solidFill>
                <a:latin typeface="Calibri"/>
              </a:rPr>
              <a:t>superan los 2.828 €. Son Gaming y Workstation reales, no errores: </a:t>
            </a:r>
            <a:r>
              <a:rPr sz="1600" b="1" i="0">
                <a:solidFill>
                  <a:srgbClr val="1B2430"/>
                </a:solidFill>
                <a:latin typeface="Calibri"/>
              </a:rPr>
              <a:t>las conservamos.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673"/>
                </a:solidFill>
                <a:latin typeface="Calibri"/>
              </a:rPr>
              <a:t>Análisis y predicción de precios de laptops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B6673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0A99D"/>
                </a:solidFill>
                <a:latin typeface="Calibri"/>
              </a:rPr>
              <a:t>ETAPA 3 · STORYTELLING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1B2430"/>
                </a:solidFill>
                <a:latin typeface="Calibri"/>
              </a:rPr>
              <a:t>Lo que de verdad encarece una laptop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5440680" cy="3520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1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85800" y="1828800"/>
          <a:ext cx="5166360" cy="3337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199632" y="1737360"/>
            <a:ext cx="5440680" cy="3520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1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336792" y="1828800"/>
          <a:ext cx="5166360" cy="33375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486400"/>
            <a:ext cx="3611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0A99D"/>
                </a:solidFill>
                <a:latin typeface="Calibri"/>
              </a:rPr>
              <a:t>Más RAM, más precio:</a:t>
            </a:r>
            <a:r>
              <a:rPr sz="1500" b="0" i="0">
                <a:solidFill>
                  <a:srgbClr val="1B2430"/>
                </a:solidFill>
                <a:latin typeface="Calibri"/>
              </a:rPr>
              <a:t> de 4 a 16 GB casi se cuadruplica.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79" y="5486400"/>
            <a:ext cx="3611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0A99D"/>
                </a:solidFill>
                <a:latin typeface="Calibri"/>
              </a:rPr>
              <a:t>Un i7 cuesta casi el triple</a:t>
            </a:r>
            <a:r>
              <a:rPr sz="1500" b="0" i="0">
                <a:solidFill>
                  <a:srgbClr val="1B2430"/>
                </a:solidFill>
                <a:latin typeface="Calibri"/>
              </a:rPr>
              <a:t> que un i3.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9" y="5486400"/>
            <a:ext cx="3611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0A99D"/>
                </a:solidFill>
                <a:latin typeface="Calibri"/>
              </a:rPr>
              <a:t>Con SSD: 1.199 €</a:t>
            </a:r>
            <a:r>
              <a:rPr sz="1500" b="0" i="0">
                <a:solidFill>
                  <a:srgbClr val="1B2430"/>
                </a:solidFill>
                <a:latin typeface="Calibri"/>
              </a:rPr>
              <a:t> vs. 599 € solo con disco duro.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673"/>
                </a:solidFill>
                <a:latin typeface="Calibri"/>
              </a:rPr>
              <a:t>Análisis y predicción de precios de laptops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B6673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0A99D"/>
                </a:solidFill>
                <a:latin typeface="Calibri"/>
              </a:rPr>
              <a:t>ETAPA 3 · MODELO PREDICTIVO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1B2430"/>
                </a:solidFill>
                <a:latin typeface="Calibri"/>
              </a:rPr>
              <a:t>Una regresión lineal que estima el precio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11091672" cy="960120"/>
          </a:xfrm>
          <a:prstGeom prst="roundRect">
            <a:avLst>
              <a:gd name="adj" fmla="val 6000"/>
            </a:avLst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6070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0" i="0">
                <a:solidFill>
                  <a:srgbClr val="C9D1D9"/>
                </a:solidFill>
                <a:latin typeface="Calibri"/>
              </a:rPr>
              <a:t>Precio ≈ </a:t>
            </a:r>
            <a:r>
              <a:rPr sz="3000" b="1" i="0">
                <a:solidFill>
                  <a:srgbClr val="FFFFFF"/>
                </a:solidFill>
                <a:latin typeface="Calibri"/>
              </a:rPr>
              <a:t>−442  +  58 × RAM  +  1,1 × SSD  +  152 × Peso  +  3,8 × PPI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718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0A99D"/>
                </a:solidFill>
                <a:latin typeface="Calibri"/>
              </a:rPr>
              <a:t>CÓMO LO EVALUAMOS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37560"/>
            <a:ext cx="3657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B2430"/>
                </a:solidFill>
                <a:latin typeface="Calibri"/>
              </a:rPr>
              <a:t>Aprendió con 1.020 laptops (80 %) y lo probamos con 255 que nunca había visto (20 %).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663440"/>
            <a:ext cx="1737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00A99D"/>
                </a:solidFill>
                <a:latin typeface="Calibri"/>
              </a:rPr>
              <a:t>0,70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349240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B6673"/>
                </a:solidFill>
                <a:latin typeface="Calibri"/>
              </a:rPr>
              <a:t>R²: explica el 70 % del precio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663440"/>
            <a:ext cx="1920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F2A93B"/>
                </a:solidFill>
                <a:latin typeface="Calibri"/>
              </a:rPr>
              <a:t>298 €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534924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B6673"/>
                </a:solidFill>
                <a:latin typeface="Calibri"/>
              </a:rPr>
              <a:t>Error promedio (MAE)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97180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0A99D"/>
                </a:solidFill>
                <a:latin typeface="Calibri"/>
              </a:rPr>
              <a:t>QUÉ SIGNIFICA CADA NÚMERO (LO DEMÁS IGUAL)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3383280"/>
            <a:ext cx="32918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1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3493008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5B6673"/>
                </a:solidFill>
                <a:latin typeface="Calibri"/>
              </a:rPr>
              <a:t>+1 GB de RAM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3840480"/>
            <a:ext cx="2834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00A99D"/>
                </a:solidFill>
                <a:latin typeface="Calibri"/>
              </a:rPr>
              <a:t>+58 €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3383280"/>
            <a:ext cx="32918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1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3493008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5B6673"/>
                </a:solidFill>
                <a:latin typeface="Calibri"/>
              </a:rPr>
              <a:t>+100 GB de SSD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3840480"/>
            <a:ext cx="2834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00A99D"/>
                </a:solidFill>
                <a:latin typeface="Calibri"/>
              </a:rPr>
              <a:t>+111 €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0" y="4617720"/>
            <a:ext cx="32918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1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83480" y="4727448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5B6673"/>
                </a:solidFill>
                <a:latin typeface="Calibri"/>
              </a:rPr>
              <a:t>+1 kg de peso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5074920"/>
            <a:ext cx="2834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00A99D"/>
                </a:solidFill>
                <a:latin typeface="Calibri"/>
              </a:rPr>
              <a:t>+152 €*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4617720"/>
            <a:ext cx="32918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1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58200" y="4727448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5B6673"/>
                </a:solidFill>
                <a:latin typeface="Calibri"/>
              </a:rPr>
              <a:t>+1 punto de nitidez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5074920"/>
            <a:ext cx="2834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00A99D"/>
                </a:solidFill>
                <a:latin typeface="Calibri"/>
              </a:rPr>
              <a:t>+4 €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585216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Calibri"/>
              </a:rPr>
              <a:t>* No es el peso: las laptops pesadas suelen ser gaming o workstation, con mejores componentes.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673"/>
                </a:solidFill>
                <a:latin typeface="Calibri"/>
              </a:rPr>
              <a:t>Análisis y predicción de precios de laptops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B6673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0A99D"/>
                </a:solidFill>
                <a:latin typeface="Calibri"/>
              </a:rPr>
              <a:t>ETAPA 3 · MODELO PREDICTIVO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1B2430"/>
                </a:solidFill>
                <a:latin typeface="Calibri"/>
              </a:rPr>
              <a:t>El modelo en acción… y sus límites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384048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1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0A99D"/>
                </a:solidFill>
                <a:latin typeface="Calibri"/>
              </a:rPr>
              <a:t>UNA LAPTOP DE OFICINA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1371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B6673"/>
                </a:solidFill>
                <a:latin typeface="Calibri"/>
              </a:rPr>
              <a:t>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2468880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B2430"/>
                </a:solidFill>
                <a:latin typeface="Calibri"/>
              </a:rPr>
              <a:t>16 GB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91840"/>
            <a:ext cx="1371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B6673"/>
                </a:solidFill>
                <a:latin typeface="Calibri"/>
              </a:rPr>
              <a:t>SSD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3291840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B2430"/>
                </a:solidFill>
                <a:latin typeface="Calibri"/>
              </a:rPr>
              <a:t>512 GB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14800"/>
            <a:ext cx="1371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B6673"/>
                </a:solidFill>
                <a:latin typeface="Calibri"/>
              </a:rPr>
              <a:t>Peso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4114800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B2430"/>
                </a:solidFill>
                <a:latin typeface="Calibri"/>
              </a:rPr>
              <a:t>1,8 kg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937760"/>
            <a:ext cx="1371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B6673"/>
                </a:solidFill>
                <a:latin typeface="Calibri"/>
              </a:rPr>
              <a:t>Pantalla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4937760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B2430"/>
                </a:solidFill>
                <a:latin typeface="Calibri"/>
              </a:rPr>
              <a:t>Full HD 15,6"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572000" y="3611880"/>
            <a:ext cx="640080" cy="457200"/>
          </a:xfrm>
          <a:prstGeom prst="rightArrow">
            <a:avLst/>
          </a:prstGeom>
          <a:solidFill>
            <a:srgbClr val="00A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394960" y="1737360"/>
            <a:ext cx="3017520" cy="4343400"/>
          </a:xfrm>
          <a:prstGeom prst="roundRect">
            <a:avLst>
              <a:gd name="adj" fmla="val 6000"/>
            </a:avLst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94960" y="288036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C9D1D9"/>
                </a:solidFill>
                <a:latin typeface="Calibri"/>
              </a:rPr>
              <a:t>Precio estimado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3383280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4800" b="1" i="0">
                <a:solidFill>
                  <a:srgbClr val="F2A93B"/>
                </a:solidFill>
                <a:latin typeface="Calibri"/>
              </a:rPr>
              <a:t>1.872 €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23560" y="4434840"/>
            <a:ext cx="2560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± 298 € de error promedio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173736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A93B"/>
                </a:solidFill>
                <a:latin typeface="Calibri"/>
              </a:rPr>
              <a:t>DÓNDE FALLA</a:t>
            </a:r>
          </a:p>
        </p:txBody>
      </p:sp>
      <p:sp>
        <p:nvSpPr>
          <p:cNvPr id="20" name="Oval 19"/>
          <p:cNvSpPr/>
          <p:nvPr/>
        </p:nvSpPr>
        <p:spPr>
          <a:xfrm>
            <a:off x="8778240" y="2240279"/>
            <a:ext cx="384048" cy="384048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1B2430"/>
                </a:solidFill>
                <a:latin typeface="Calibri"/>
              </a:rPr>
              <a:t>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2194560"/>
            <a:ext cx="2331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B2430"/>
                </a:solidFill>
                <a:latin typeface="Calibri"/>
              </a:rPr>
              <a:t>Subestima las laptops más caras</a:t>
            </a:r>
          </a:p>
        </p:txBody>
      </p:sp>
      <p:sp>
        <p:nvSpPr>
          <p:cNvPr id="22" name="Oval 21"/>
          <p:cNvSpPr/>
          <p:nvPr/>
        </p:nvSpPr>
        <p:spPr>
          <a:xfrm>
            <a:off x="8778240" y="3200400"/>
            <a:ext cx="384048" cy="384048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1B2430"/>
                </a:solidFill>
                <a:latin typeface="Calibri"/>
              </a:rPr>
              <a:t>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3154680"/>
            <a:ext cx="2331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B2430"/>
                </a:solidFill>
                <a:latin typeface="Calibri"/>
              </a:rPr>
              <a:t>No considera marca ni tarjeta gráfica</a:t>
            </a:r>
          </a:p>
        </p:txBody>
      </p:sp>
      <p:sp>
        <p:nvSpPr>
          <p:cNvPr id="24" name="Oval 23"/>
          <p:cNvSpPr/>
          <p:nvPr/>
        </p:nvSpPr>
        <p:spPr>
          <a:xfrm>
            <a:off x="8778240" y="4160520"/>
            <a:ext cx="384048" cy="384048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1B2430"/>
                </a:solidFill>
                <a:latin typeface="Calibri"/>
              </a:rPr>
              <a:t>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4114800"/>
            <a:ext cx="2331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B2430"/>
                </a:solidFill>
                <a:latin typeface="Calibri"/>
              </a:rPr>
              <a:t>Precios de 2017-2018, en euros</a:t>
            </a:r>
          </a:p>
        </p:txBody>
      </p:sp>
      <p:sp>
        <p:nvSpPr>
          <p:cNvPr id="26" name="Oval 25"/>
          <p:cNvSpPr/>
          <p:nvPr/>
        </p:nvSpPr>
        <p:spPr>
          <a:xfrm>
            <a:off x="8778240" y="5120640"/>
            <a:ext cx="384048" cy="384048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1B2430"/>
                </a:solidFill>
                <a:latin typeface="Calibri"/>
              </a:rPr>
              <a:t>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5074920"/>
            <a:ext cx="2331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B2430"/>
                </a:solidFill>
                <a:latin typeface="Calibri"/>
              </a:rPr>
              <a:t>Correlación no es causalidad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673"/>
                </a:solidFill>
                <a:latin typeface="Calibri"/>
              </a:rPr>
              <a:t>Análisis y predicción de precios de laptops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B6673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0A99D"/>
                </a:solidFill>
                <a:latin typeface="Calibri"/>
              </a:rPr>
              <a:t>APLICACIÓN PROFESIONAL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1B2430"/>
                </a:solidFill>
                <a:latin typeface="Calibri"/>
              </a:rPr>
              <a:t>¿Cómo lo usaríamos en el área de TI?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3538728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1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2103120"/>
            <a:ext cx="731520" cy="731520"/>
          </a:xfrm>
          <a:prstGeom prst="ellipse">
            <a:avLst/>
          </a:prstGeom>
          <a:solidFill>
            <a:srgbClr val="00A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01752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B2430"/>
                </a:solidFill>
                <a:latin typeface="Calibri"/>
              </a:rPr>
              <a:t>Validar cotizaciones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52044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B6673"/>
                </a:solidFill>
                <a:latin typeface="Calibri"/>
              </a:rPr>
              <a:t>Si un proveedor cobra 2.500 € por un equipo que el modelo estima en 1.870 €, tenemos argumentos para negociar.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5112" y="1783080"/>
            <a:ext cx="3538728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1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45151" y="2103120"/>
            <a:ext cx="731520" cy="731520"/>
          </a:xfrm>
          <a:prstGeom prst="ellipse">
            <a:avLst/>
          </a:prstGeom>
          <a:solidFill>
            <a:srgbClr val="00A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5151" y="301752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B2430"/>
                </a:solidFill>
                <a:latin typeface="Calibri"/>
              </a:rPr>
              <a:t>Optimizar el presupuesto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1" y="352044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B6673"/>
                </a:solidFill>
                <a:latin typeface="Calibri"/>
              </a:rPr>
              <a:t>Invertir primero en RAM y SSD: es lo que más valor aporta por cada euro.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1583" y="1783080"/>
            <a:ext cx="3538728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1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21624" y="2103120"/>
            <a:ext cx="731520" cy="731520"/>
          </a:xfrm>
          <a:prstGeom prst="ellipse">
            <a:avLst/>
          </a:prstGeom>
          <a:solidFill>
            <a:srgbClr val="00A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21624" y="301752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B2430"/>
                </a:solidFill>
                <a:latin typeface="Calibri"/>
              </a:rPr>
              <a:t>Definir perfiles de equipo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21624" y="352044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B6673"/>
                </a:solidFill>
                <a:latin typeface="Calibri"/>
              </a:rPr>
              <a:t>Básico, desarrollador o diseñador, cada uno con un costo estimado antes de cotizar.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349240"/>
            <a:ext cx="11091672" cy="731520"/>
          </a:xfrm>
          <a:prstGeom prst="roundRect">
            <a:avLst>
              <a:gd name="adj" fmla="val 6000"/>
            </a:avLst>
          </a:prstGeom>
          <a:solidFill>
            <a:srgbClr val="D9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349240"/>
            <a:ext cx="10607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B2430"/>
                </a:solidFill>
                <a:latin typeface="Calibri"/>
              </a:rPr>
              <a:t>El mismo flujo sirve para </a:t>
            </a:r>
            <a:r>
              <a:rPr sz="1600" b="1" i="0">
                <a:solidFill>
                  <a:srgbClr val="1B2430"/>
                </a:solidFill>
                <a:latin typeface="Calibri"/>
              </a:rPr>
              <a:t>inventarios, consumo de servidores o tiempos de respuesta</a:t>
            </a:r>
            <a:r>
              <a:rPr sz="1600" b="0" i="0">
                <a:solidFill>
                  <a:srgbClr val="1B2430"/>
                </a:solidFill>
                <a:latin typeface="Calibri"/>
              </a:rPr>
              <a:t> de un sistema.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673"/>
                </a:solidFill>
                <a:latin typeface="Calibri"/>
              </a:rPr>
              <a:t>Análisis y predicción de precios de laptops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B6673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0A99D"/>
                </a:solidFill>
                <a:latin typeface="Calibri"/>
              </a:rPr>
              <a:t>CONCLUSIONES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Lo que nos llevamos de este proyecto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2148840"/>
            <a:ext cx="594360" cy="594360"/>
          </a:xfrm>
          <a:prstGeom prst="ellipse">
            <a:avLst/>
          </a:prstGeom>
          <a:solidFill>
            <a:srgbClr val="00A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210312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Limpiar es la mitad del trabajo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560320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C9D1D9"/>
                </a:solidFill>
                <a:latin typeface="Calibri"/>
              </a:rPr>
              <a:t>Los datos reales casi nunca vienen listos para analizar.</a:t>
            </a:r>
          </a:p>
        </p:txBody>
      </p:sp>
      <p:sp>
        <p:nvSpPr>
          <p:cNvPr id="7" name="Oval 6"/>
          <p:cNvSpPr/>
          <p:nvPr/>
        </p:nvSpPr>
        <p:spPr>
          <a:xfrm>
            <a:off x="6217920" y="2148840"/>
            <a:ext cx="594360" cy="594360"/>
          </a:xfrm>
          <a:prstGeom prst="ellipse">
            <a:avLst/>
          </a:prstGeom>
          <a:solidFill>
            <a:srgbClr val="00A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210312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La mediana cuenta mejor la historia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2560320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C9D1D9"/>
                </a:solidFill>
                <a:latin typeface="Calibri"/>
              </a:rPr>
              <a:t>Cuando hay valores extremos, el promedio engaña.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749039"/>
            <a:ext cx="594360" cy="594360"/>
          </a:xfrm>
          <a:prstGeom prst="ellipse">
            <a:avLst/>
          </a:prstGeom>
          <a:solidFill>
            <a:srgbClr val="00A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70332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RAM, SSD y procesador definen el precio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160520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C9D1D9"/>
                </a:solidFill>
                <a:latin typeface="Calibri"/>
              </a:rPr>
              <a:t>Lo confirmamos con estadística, gráficos y el modelo.</a:t>
            </a:r>
          </a:p>
        </p:txBody>
      </p:sp>
      <p:sp>
        <p:nvSpPr>
          <p:cNvPr id="13" name="Oval 12"/>
          <p:cNvSpPr/>
          <p:nvPr/>
        </p:nvSpPr>
        <p:spPr>
          <a:xfrm>
            <a:off x="6217920" y="3749039"/>
            <a:ext cx="594360" cy="594360"/>
          </a:xfrm>
          <a:prstGeom prst="ellipse">
            <a:avLst/>
          </a:prstGeom>
          <a:solidFill>
            <a:srgbClr val="00A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370332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Simple y explicable también sirve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4160520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C9D1D9"/>
                </a:solidFill>
                <a:latin typeface="Calibri"/>
              </a:rPr>
              <a:t>Un modelo de 4 variables ya ayuda a tomar decisiones.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440680"/>
            <a:ext cx="5486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F2A93B"/>
                </a:solidFill>
                <a:latin typeface="Calibri"/>
              </a:rPr>
              <a:t>¡Gracias!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5577840"/>
            <a:ext cx="5943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C9D1D9"/>
                </a:solidFill>
                <a:latin typeface="Calibri"/>
              </a:rPr>
              <a:t>github.com/JEstebanBello/analisis-precios-laptops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